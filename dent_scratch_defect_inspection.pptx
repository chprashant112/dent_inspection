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52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DD2E0"/>
                </a:solidFill>
              </a:defRPr>
            </a:pPr>
            <a:r>
              <a:t>INDUSTRIAL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6126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EBF0F6"/>
                </a:solidFill>
              </a:defRPr>
            </a:pPr>
            <a:r>
              <a:t>Dent &amp; Scratch Defect</a:t>
            </a:r>
            <a:br/>
            <a:r>
              <a:t>Inspection — Back Glass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48716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BA9B8"/>
                </a:solidFill>
              </a:defRPr>
            </a:pPr>
            <a:r>
              <a:t>Traditional CV development + future Deep Learning / Hybrid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703320"/>
            <a:ext cx="5715000" cy="114300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52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DD2E0"/>
                </a:solidFill>
              </a:defRPr>
            </a:pPr>
            <a:r>
              <a:t>CURRENTLY UNDER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51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BF0F6"/>
                </a:solidFill>
              </a:defRPr>
            </a:pPr>
            <a:r>
              <a:t>Interpretable, tunable Traditional CV pipeline</a:t>
            </a:r>
          </a:p>
        </p:txBody>
      </p:sp>
      <p:pic>
        <p:nvPicPr>
          <p:cNvPr id="9" name="Picture 8" descr="phone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502920"/>
            <a:ext cx="4754880" cy="5394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" y="656539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BA9B8"/>
                </a:solidFill>
              </a:defRPr>
            </a:pPr>
            <a:r>
              <a:t>Phone Back-Glass • Dent &amp; Scratch Inspection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65392"/>
            <a:ext cx="1554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BA9B8"/>
                </a:solidFill>
              </a:defRPr>
            </a:pPr>
            <a:r>
              <a:t>Computer 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52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BF0F6"/>
                </a:solidFill>
              </a:defRPr>
            </a:pPr>
            <a:r>
              <a:t>Inspection Problem &amp;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9B8"/>
                </a:solidFill>
              </a:defRPr>
            </a:pPr>
            <a:r>
              <a:t>Detect small surface defects on reflective smartphone back glass while controlling glare, texture and temporal noise.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BA9B8"/>
                </a:solidFill>
              </a:defRPr>
            </a:pPr>
            <a:r>
              <a:t>02</a:t>
            </a:r>
          </a:p>
        </p:txBody>
      </p:sp>
      <p:pic>
        <p:nvPicPr>
          <p:cNvPr id="6" name="Picture 5" descr="phone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484632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23560" y="1325880"/>
            <a:ext cx="5989320" cy="4480560"/>
          </a:xfrm>
          <a:prstGeom prst="roundRect">
            <a:avLst/>
          </a:prstGeom>
          <a:solidFill>
            <a:srgbClr val="14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6002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DD2E0"/>
                </a:solidFill>
              </a:defRPr>
            </a:pPr>
            <a:r>
              <a:t>DEFECT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96596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BF0F6"/>
                </a:solidFill>
              </a:defRPr>
            </a:pPr>
            <a:r>
              <a:t>• Scratch: thin high-frequency structure / line</a:t>
            </a:r>
          </a:p>
          <a:p>
            <a:pPr>
              <a:spcAft>
                <a:spcPts val="700"/>
              </a:spcAft>
              <a:defRPr sz="1300">
                <a:solidFill>
                  <a:srgbClr val="EBF0F6"/>
                </a:solidFill>
              </a:defRPr>
            </a:pPr>
            <a:r>
              <a:t>• Dent: localized surface deformation / intensity anomaly</a:t>
            </a:r>
          </a:p>
          <a:p>
            <a:pPr>
              <a:spcAft>
                <a:spcPts val="700"/>
              </a:spcAft>
              <a:defRPr sz="1300">
                <a:solidFill>
                  <a:srgbClr val="EBF0F6"/>
                </a:solidFill>
              </a:defRPr>
            </a:pPr>
            <a:r>
              <a:t>• Both can be confused with glare, texture, dust or sensor noise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566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BC46"/>
                </a:solidFill>
              </a:defRPr>
            </a:pPr>
            <a:r>
              <a:t>CORE CHALLENGES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931920"/>
            <a:ext cx="5166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BF0F6"/>
                </a:solidFill>
              </a:defRPr>
            </a:pPr>
            <a:r>
              <a:t>• Reflective glass → illumination-sensitive response</a:t>
            </a:r>
          </a:p>
          <a:p>
            <a:pPr>
              <a:spcAft>
                <a:spcPts val="700"/>
              </a:spcAft>
              <a:defRPr sz="1300">
                <a:solidFill>
                  <a:srgbClr val="EBF0F6"/>
                </a:solidFill>
              </a:defRPr>
            </a:pPr>
            <a:r>
              <a:t>• Micro-defects → very small spatial footprint</a:t>
            </a:r>
          </a:p>
          <a:p>
            <a:pPr>
              <a:spcAft>
                <a:spcPts val="700"/>
              </a:spcAft>
              <a:defRPr sz="1300">
                <a:solidFill>
                  <a:srgbClr val="EBF0F6"/>
                </a:solidFill>
              </a:defRPr>
            </a:pPr>
            <a:r>
              <a:t>• Video inspection → false detections can flicker frame-to-frame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6539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BA9B8"/>
                </a:solidFill>
              </a:defRPr>
            </a:pPr>
            <a:r>
              <a:t>Phone Back-Glass • Dent &amp; Scratch Inspection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565392"/>
            <a:ext cx="1554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BA9B8"/>
                </a:solidFill>
              </a:defRPr>
            </a:pPr>
            <a:r>
              <a:t>Computer Vision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52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BF0F6"/>
                </a:solidFill>
              </a:defRPr>
            </a:pPr>
            <a:r>
              <a:t>Current Inspection-Stations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9B8"/>
                </a:solidFill>
              </a:defRPr>
            </a:pPr>
            <a:r>
              <a:t>The supplied application already provides a modular base for controlled image acquisition and pluggable detection.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BA9B8"/>
                </a:solidFill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057400" cy="256032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52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057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2A0FF"/>
                </a:solidFill>
              </a:defRPr>
            </a:pPr>
            <a:r>
              <a:t>CAMERA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6517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BF0F6"/>
                </a:solidFill>
              </a:defRPr>
            </a:pPr>
            <a:r>
              <a:t>Basler Camera 1/2</a:t>
            </a:r>
            <a:br/>
            <a:r>
              <a:t>Exposure • Gain • FPS • Resolution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78608" y="3063240"/>
            <a:ext cx="210312" cy="0"/>
          </a:xfrm>
          <a:prstGeom prst="line">
            <a:avLst/>
          </a:prstGeom>
          <a:ln w="31750">
            <a:solidFill>
              <a:srgbClr val="52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4639" y="1828800"/>
            <a:ext cx="2057400" cy="256032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4D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2057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DD2E0"/>
                </a:solidFill>
              </a:defRPr>
            </a:pPr>
            <a:r>
              <a:t>LIGHTING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26517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BF0F6"/>
                </a:solidFill>
              </a:defRPr>
            </a:pPr>
            <a:r>
              <a:t>RGB recipes</a:t>
            </a:r>
            <a:br/>
            <a:r>
              <a:t>Dual 4CH / Single 8CH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10327" y="3063240"/>
            <a:ext cx="210313" cy="0"/>
          </a:xfrm>
          <a:prstGeom prst="line">
            <a:avLst/>
          </a:prstGeom>
          <a:ln w="31750">
            <a:solidFill>
              <a:srgbClr val="4D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66359" y="1828800"/>
            <a:ext cx="2057400" cy="256032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52CA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1" y="2057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2CA8B"/>
                </a:solidFill>
              </a:defRPr>
            </a:pPr>
            <a:r>
              <a:t>CAPTURE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1" y="26517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BF0F6"/>
                </a:solidFill>
              </a:defRPr>
            </a:pPr>
            <a:r>
              <a:t>Light ON → settle → capture</a:t>
            </a:r>
            <a:br/>
            <a:r>
              <a:t>→ Light OFF → save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42048" y="3063240"/>
            <a:ext cx="210311" cy="0"/>
          </a:xfrm>
          <a:prstGeom prst="line">
            <a:avLst/>
          </a:prstGeom>
          <a:ln w="31750">
            <a:solidFill>
              <a:srgbClr val="52C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98079" y="1828800"/>
            <a:ext cx="2057400" cy="256032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F2B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1" y="2057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BC46"/>
                </a:solidFill>
              </a:defRPr>
            </a:pPr>
            <a:r>
              <a:t>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1" y="26517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BF0F6"/>
                </a:solidFill>
              </a:defRPr>
            </a:pPr>
            <a:r>
              <a:t>RAW Laplacian • Canny</a:t>
            </a:r>
            <a:br/>
            <a:r>
              <a:t>pluggable registry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73767" y="3063240"/>
            <a:ext cx="210313" cy="0"/>
          </a:xfrm>
          <a:prstGeom prst="line">
            <a:avLst/>
          </a:prstGeom>
          <a:ln w="31750">
            <a:solidFill>
              <a:srgbClr val="F2B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29800" y="1828800"/>
            <a:ext cx="2057400" cy="256032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F05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94392" y="2057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5062"/>
                </a:solidFill>
              </a:defRPr>
            </a:pPr>
            <a:r>
              <a:t>UI /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94392" y="26517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BF0F6"/>
                </a:solidFill>
              </a:defRPr>
            </a:pPr>
            <a:r>
              <a:t>Live view • parameters</a:t>
            </a:r>
            <a:br/>
            <a:r>
              <a:t>Detection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8920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BA9B8"/>
                </a:solidFill>
              </a:defRPr>
            </a:pPr>
            <a:r>
              <a:t>Modularity allows new CV or DL detectors to be added without redesigning camera / lighting / capture control.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56539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BA9B8"/>
                </a:solidFill>
              </a:defRPr>
            </a:pPr>
            <a:r>
              <a:t>Phone Back-Glass • Dent &amp; Scratch Inspection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65392"/>
            <a:ext cx="1554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BA9B8"/>
                </a:solidFill>
              </a:defRPr>
            </a:pPr>
            <a:r>
              <a:t>Computer Vision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52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BF0F6"/>
                </a:solidFill>
              </a:defRPr>
            </a:pPr>
            <a:r>
              <a:t>Three-Path Development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9B8"/>
                </a:solidFill>
              </a:defRPr>
            </a:pPr>
            <a:r>
              <a:t>A staged approach: exhaust interpretable CV improvements, then introduce learned representations where required.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BA9B8"/>
                </a:solidFill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3246120" cy="214884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52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2A0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BF0F6"/>
                </a:solidFill>
              </a:defRPr>
            </a:pPr>
            <a:r>
              <a:t>TRADITIONAL CV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9067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9B8"/>
                </a:solidFill>
              </a:defRPr>
            </a:pPr>
            <a:r>
              <a:t>Current testing</a:t>
            </a:r>
            <a:br/>
            <a:r>
              <a:t>Deterministic + tunable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04488" y="2907792"/>
            <a:ext cx="393192" cy="0"/>
          </a:xfrm>
          <a:prstGeom prst="line">
            <a:avLst/>
          </a:prstGeom>
          <a:ln w="31750">
            <a:solidFill>
              <a:srgbClr val="52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0" y="1828800"/>
            <a:ext cx="3246120" cy="214884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F05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0574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5062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BF0F6"/>
                </a:solidFill>
              </a:defRPr>
            </a:pPr>
            <a:r>
              <a:t>DEEP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9067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9B8"/>
                </a:solidFill>
              </a:defRPr>
            </a:pPr>
            <a:r>
              <a:t>Future fallback</a:t>
            </a:r>
            <a:br/>
            <a:r>
              <a:t>if handcrafted features are insufficient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99248" y="2907792"/>
            <a:ext cx="393192" cy="0"/>
          </a:xfrm>
          <a:prstGeom prst="line">
            <a:avLst/>
          </a:prstGeom>
          <a:ln w="31750">
            <a:solidFill>
              <a:srgbClr val="F050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83880" y="1828800"/>
            <a:ext cx="3246120" cy="214884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4D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0574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DD2E0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BF0F6"/>
                </a:solidFill>
              </a:defRPr>
            </a:pPr>
            <a:r>
              <a:t>CV + DEEP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09067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9B8"/>
                </a:solidFill>
              </a:defRPr>
            </a:pPr>
            <a:r>
              <a:t>Hybrid</a:t>
            </a:r>
            <a:br/>
            <a:r>
              <a:t>CV-derived feature space → learned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BF0F6"/>
                </a:solidFill>
              </a:defRPr>
            </a:pPr>
            <a:r>
              <a:t>Decision point → compare detection stability, false-positive rate, minimum detectable defect size and production throughput.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56539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BA9B8"/>
                </a:solidFill>
              </a:defRPr>
            </a:pPr>
            <a:r>
              <a:t>Phone Back-Glass • Dent &amp; Scratch Inspection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565392"/>
            <a:ext cx="1554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BA9B8"/>
                </a:solidFill>
              </a:defRPr>
            </a:pPr>
            <a:r>
              <a:t>Computer Vision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52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BF0F6"/>
                </a:solidFill>
              </a:defRPr>
            </a:pPr>
            <a:r>
              <a:t>Option 1 — Traditional CV: Phasewise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9B8"/>
                </a:solidFill>
              </a:defRPr>
            </a:pPr>
            <a:r>
              <a:t>Each iteration addresses a specific failure mode observed in defect detection.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BA9B8"/>
                </a:solidFill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2057400" cy="406908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52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105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2A0FF"/>
                </a:solidFill>
              </a:defRPr>
            </a:pPr>
            <a:r>
              <a:t>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7627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BF0F6"/>
                </a:solidFill>
              </a:defRPr>
            </a:pPr>
            <a: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BA9B8"/>
                </a:solidFill>
              </a:defRPr>
            </a:pPr>
            <a:r>
              <a:t>Gray → Laplacian → threshold → contours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86200"/>
            <a:ext cx="1737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BF0F6"/>
                </a:solidFill>
              </a:defRPr>
            </a:pPr>
            <a:r>
              <a:t>Simple edge / micro-variation detector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87168" y="2743200"/>
            <a:ext cx="210312" cy="0"/>
          </a:xfrm>
          <a:prstGeom prst="line">
            <a:avLst/>
          </a:prstGeom>
          <a:ln w="31750">
            <a:solidFill>
              <a:srgbClr val="52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61488" y="1600200"/>
            <a:ext cx="2057400" cy="406908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52CA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8648" y="18105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2CA8B"/>
                </a:solidFill>
              </a:defRPr>
            </a:pPr>
            <a: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217627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BF0F6"/>
                </a:solidFill>
              </a:defRPr>
            </a:pPr>
            <a:r>
              <a:t>Noise reduction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8648" y="2788920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BA9B8"/>
                </a:solidFill>
              </a:defRPr>
            </a:pPr>
            <a:r>
              <a:t>Gaussian smoothing → Laplacian → mean + k·σ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3886200"/>
            <a:ext cx="1737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BF0F6"/>
                </a:solidFill>
              </a:defRPr>
            </a:pPr>
            <a:r>
              <a:t>Reduce high-frequency noise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37176" y="2743200"/>
            <a:ext cx="210312" cy="0"/>
          </a:xfrm>
          <a:prstGeom prst="line">
            <a:avLst/>
          </a:prstGeom>
          <a:ln w="31750">
            <a:solidFill>
              <a:srgbClr val="52C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11496" y="1600200"/>
            <a:ext cx="2057400" cy="406908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4D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8656" y="18105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DD2E0"/>
                </a:solidFill>
              </a:defRPr>
            </a:pPr>
            <a:r>
              <a:t>P3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656" y="217627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BF0F6"/>
                </a:solidFill>
              </a:defRPr>
            </a:pPr>
            <a:r>
              <a:t>ROI awareness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8656" y="2788920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BA9B8"/>
                </a:solidFill>
              </a:defRPr>
            </a:pPr>
            <a:r>
              <a:t>CLAHE → Canny / Adaptive Threshold → contour ROI → erosion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656" y="3886200"/>
            <a:ext cx="1737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BF0F6"/>
                </a:solidFill>
              </a:defRPr>
            </a:pPr>
            <a:r>
              <a:t>Inspect relevant glass region; protect borders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87183" y="2743200"/>
            <a:ext cx="210313" cy="0"/>
          </a:xfrm>
          <a:prstGeom prst="line">
            <a:avLst/>
          </a:prstGeom>
          <a:ln w="31750">
            <a:solidFill>
              <a:srgbClr val="4D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61503" y="1600200"/>
            <a:ext cx="2057400" cy="406908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F2B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98663" y="18105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BC46"/>
                </a:solidFill>
              </a:defRPr>
            </a:pPr>
            <a:r>
              <a:t>P4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8663" y="217627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BF0F6"/>
                </a:solidFill>
              </a:defRPr>
            </a:pPr>
            <a:r>
              <a:t>Spatial filtering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98663" y="2788920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BA9B8"/>
                </a:solidFill>
              </a:defRPr>
            </a:pPr>
            <a:r>
              <a:t>Candidate centroids → neighborhood radius → neighbor-count outlier logic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98663" y="3886200"/>
            <a:ext cx="1737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BF0F6"/>
                </a:solidFill>
              </a:defRPr>
            </a:pPr>
            <a:r>
              <a:t>Reject repetitive glare / texture clusters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537191" y="2743200"/>
            <a:ext cx="210312" cy="0"/>
          </a:xfrm>
          <a:prstGeom prst="line">
            <a:avLst/>
          </a:prstGeom>
          <a:ln w="31750">
            <a:solidFill>
              <a:srgbClr val="F2B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811511" y="1600200"/>
            <a:ext cx="2057400" cy="406908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F05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8672" y="18105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5062"/>
                </a:solidFill>
              </a:defRPr>
            </a:pPr>
            <a:r>
              <a:t>P5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48672" y="217627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BF0F6"/>
                </a:solidFill>
              </a:defRPr>
            </a:pPr>
            <a:r>
              <a:t>Temporal stability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48672" y="2788920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BA9B8"/>
                </a:solidFill>
              </a:defRPr>
            </a:pPr>
            <a:r>
              <a:t>Local μ/σ via boxFilter → rolling mask buffer → persistence hits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48672" y="3886200"/>
            <a:ext cx="1737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BF0F6"/>
                </a:solidFill>
              </a:defRPr>
            </a:pPr>
            <a:r>
              <a:t>Reduce frame-to-frame flicker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656539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BA9B8"/>
                </a:solidFill>
              </a:defRPr>
            </a:pPr>
            <a:r>
              <a:t>Phone Back-Glass • Dent &amp; Scratch Inspection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6565392"/>
            <a:ext cx="1554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BA9B8"/>
                </a:solidFill>
              </a:defRPr>
            </a:pPr>
            <a:r>
              <a:t>Computer Vision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52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BF0F6"/>
                </a:solidFill>
              </a:defRPr>
            </a:pPr>
            <a:r>
              <a:t>Traditional CV — Early Baseline: Laplacian + Dynamic 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9B8"/>
                </a:solidFill>
              </a:defRPr>
            </a:pPr>
            <a:r>
              <a:t>The first implementation converts local intensity curvature into a binary defect candidate map.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BA9B8"/>
                </a:solidFill>
              </a:defRPr>
            </a:pPr>
            <a:r>
              <a:t>06</a:t>
            </a:r>
          </a:p>
        </p:txBody>
      </p:sp>
      <p:pic>
        <p:nvPicPr>
          <p:cNvPr id="6" name="Picture 5" descr="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5577840" cy="3200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417320"/>
            <a:ext cx="5257800" cy="3200400"/>
          </a:xfrm>
          <a:prstGeom prst="roundRect">
            <a:avLst/>
          </a:prstGeom>
          <a:solidFill>
            <a:srgbClr val="14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6916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DD2E0"/>
                </a:solidFill>
              </a:defRPr>
            </a:pPr>
            <a:r>
              <a:t>CORE OPERATION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0116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EBF0F6"/>
                </a:solidFill>
              </a:defRPr>
            </a:pPr>
            <a:r>
              <a:t>• Convert BGR → grayscale</a:t>
            </a:r>
          </a:p>
          <a:p>
            <a:pPr>
              <a:spcAft>
                <a:spcPts val="700"/>
              </a:spcAft>
              <a:defRPr sz="1250">
                <a:solidFill>
                  <a:srgbClr val="EBF0F6"/>
                </a:solidFill>
              </a:defRPr>
            </a:pPr>
            <a:r>
              <a:t>• Optional Gaussian smoothing to suppress sensor noise</a:t>
            </a:r>
          </a:p>
          <a:p>
            <a:pPr>
              <a:spcAft>
                <a:spcPts val="700"/>
              </a:spcAft>
              <a:defRPr sz="1250">
                <a:solidFill>
                  <a:srgbClr val="EBF0F6"/>
                </a:solidFill>
              </a:defRPr>
            </a:pPr>
            <a:r>
              <a:t>• Laplacian: second spatial derivative / high-frequency response</a:t>
            </a:r>
          </a:p>
          <a:p>
            <a:pPr>
              <a:spcAft>
                <a:spcPts val="700"/>
              </a:spcAft>
              <a:defRPr sz="1250">
                <a:solidFill>
                  <a:srgbClr val="EBF0F6"/>
                </a:solidFill>
              </a:defRPr>
            </a:pPr>
            <a:r>
              <a:t>• Threshold using mean + k × standard deviation</a:t>
            </a:r>
          </a:p>
          <a:p>
            <a:pPr>
              <a:spcAft>
                <a:spcPts val="700"/>
              </a:spcAft>
              <a:defRPr sz="1250">
                <a:solidFill>
                  <a:srgbClr val="EBF0F6"/>
                </a:solidFill>
              </a:defRPr>
            </a:pPr>
            <a:r>
              <a:t>• Contours / bounding boxes group candidate pixels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983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2BC46"/>
                </a:solidFill>
              </a:defRPr>
            </a:pPr>
            <a:r>
              <a:t>Limitation: a single global threshold can move with illumination, texture and frame noise.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56539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BA9B8"/>
                </a:solidFill>
              </a:defRPr>
            </a:pPr>
            <a:r>
              <a:t>Phone Back-Glass • Dent &amp; Scratch Inspection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565392"/>
            <a:ext cx="1554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BA9B8"/>
                </a:solidFill>
              </a:defRPr>
            </a:pPr>
            <a:r>
              <a:t>Computer Vision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52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BF0F6"/>
                </a:solidFill>
              </a:defRPr>
            </a:pPr>
            <a:r>
              <a:t>Traditional CV — ROI &amp; Local Contrast Enhancement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9B8"/>
                </a:solidFill>
              </a:defRPr>
            </a:pPr>
            <a:r>
              <a:t>Focus computation on the phone/glass region and make micro-contrast more visible before defect extraction.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BA9B8"/>
                </a:solidFill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3246120" cy="297180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52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2A0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BF0F6"/>
                </a:solidFill>
              </a:defRPr>
            </a:pPr>
            <a:r>
              <a:t>CLAHE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9B8"/>
                </a:solidFill>
              </a:defRPr>
            </a:pPr>
            <a:r>
              <a:t>Local histogram equalization</a:t>
            </a:r>
            <a:br/>
            <a:r>
              <a:t>Enhances micro-contrast without relying only on global brightness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246120" cy="297180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4D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DD2E0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40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BF0F6"/>
                </a:solidFill>
              </a:defRPr>
            </a:pPr>
            <a:r>
              <a:t>ROI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889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9B8"/>
                </a:solidFill>
              </a:defRPr>
            </a:pPr>
            <a:r>
              <a:t>Gaussian blur → Canny / Adaptive Threshold → contours</a:t>
            </a:r>
            <a:br/>
            <a:r>
              <a:t>Area filtering selects major structural region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600200"/>
            <a:ext cx="3246120" cy="297180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52CA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828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2CA8B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240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BF0F6"/>
                </a:solidFill>
              </a:defRPr>
            </a:pPr>
            <a:r>
              <a:t>ROI erosion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7889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9B8"/>
                </a:solidFill>
              </a:defRPr>
            </a:pPr>
            <a:r>
              <a:t>5×5 morphology shrinks mask inward</a:t>
            </a:r>
            <a:br/>
            <a:r>
              <a:t>Separates interior defect analysis from border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BF0F6"/>
                </a:solidFill>
              </a:defRPr>
            </a:pPr>
            <a:r>
              <a:t>Result → defect detector sees the relevant surface rather than the entire camera frame.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56539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BA9B8"/>
                </a:solidFill>
              </a:defRPr>
            </a:pPr>
            <a:r>
              <a:t>Phone Back-Glass • Dent &amp; Scratch Inspection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565392"/>
            <a:ext cx="1554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BA9B8"/>
                </a:solidFill>
              </a:defRPr>
            </a:pPr>
            <a:r>
              <a:t>Computer Vision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52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BF0F6"/>
                </a:solidFill>
              </a:defRPr>
            </a:pPr>
            <a:r>
              <a:t>Traditional CV — Spatial Density Outlier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9B8"/>
                </a:solidFill>
              </a:defRPr>
            </a:pPr>
            <a:r>
              <a:t>A candidate is evaluated against nearby candidates: isolated anomalies are retained; dense repeating patterns are treated as likely texture / glare.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BA9B8"/>
                </a:solidFill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03520" cy="4480560"/>
          </a:xfrm>
          <a:prstGeom prst="roundRect">
            <a:avLst/>
          </a:prstGeom>
          <a:solidFill>
            <a:srgbClr val="14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DD2E0"/>
                </a:solidFill>
              </a:defRPr>
            </a:pPr>
            <a:r>
              <a:t>SPATIAL MODEL</a:t>
            </a:r>
          </a:p>
        </p:txBody>
      </p:sp>
      <p:sp>
        <p:nvSpPr>
          <p:cNvPr id="8" name="Oval 7"/>
          <p:cNvSpPr/>
          <p:nvPr/>
        </p:nvSpPr>
        <p:spPr>
          <a:xfrm>
            <a:off x="1965960" y="2834640"/>
            <a:ext cx="2011680" cy="2011680"/>
          </a:xfrm>
          <a:prstGeom prst="ellipse">
            <a:avLst/>
          </a:prstGeom>
          <a:noFill/>
          <a:ln w="25400">
            <a:solidFill>
              <a:srgbClr val="F2B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200" y="3657600"/>
            <a:ext cx="128016" cy="128016"/>
          </a:xfrm>
          <a:prstGeom prst="ellipse">
            <a:avLst/>
          </a:prstGeom>
          <a:solidFill>
            <a:srgbClr val="F05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600" y="3886200"/>
            <a:ext cx="128016" cy="128016"/>
          </a:xfrm>
          <a:prstGeom prst="ellipse">
            <a:avLst/>
          </a:prstGeom>
          <a:solidFill>
            <a:srgbClr val="F05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11680" y="4206240"/>
            <a:ext cx="128016" cy="128016"/>
          </a:xfrm>
          <a:prstGeom prst="ellipse">
            <a:avLst/>
          </a:prstGeom>
          <a:solidFill>
            <a:srgbClr val="F05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91840" y="3017520"/>
            <a:ext cx="128016" cy="128016"/>
          </a:xfrm>
          <a:prstGeom prst="ellipse">
            <a:avLst/>
          </a:prstGeom>
          <a:solidFill>
            <a:srgbClr val="F05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68880" y="3200400"/>
            <a:ext cx="128016" cy="128016"/>
          </a:xfrm>
          <a:prstGeom prst="ellipse">
            <a:avLst/>
          </a:prstGeom>
          <a:solidFill>
            <a:srgbClr val="F05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69080" y="4572000"/>
            <a:ext cx="128016" cy="128016"/>
          </a:xfrm>
          <a:prstGeom prst="ellipse">
            <a:avLst/>
          </a:prstGeom>
          <a:solidFill>
            <a:srgbClr val="F05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0749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2BC46"/>
                </a:solidFill>
              </a:defRPr>
            </a:pPr>
            <a:r>
              <a:t>Virtual neighborhood radius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417320"/>
            <a:ext cx="5440680" cy="4480560"/>
          </a:xfrm>
          <a:prstGeom prst="roundRect">
            <a:avLst/>
          </a:prstGeom>
          <a:solidFill>
            <a:srgbClr val="14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6916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DD2E0"/>
                </a:solidFill>
              </a:defRPr>
            </a:pPr>
            <a:r>
              <a:t>IMPLEMENTATION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01168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EBF0F6"/>
                </a:solidFill>
              </a:defRPr>
            </a:pPr>
            <a:r>
              <a:t>• Extract contour centroids (x, y)</a:t>
            </a:r>
          </a:p>
          <a:p>
            <a:pPr>
              <a:spcAft>
                <a:spcPts val="700"/>
              </a:spcAft>
              <a:defRPr sz="1250">
                <a:solidFill>
                  <a:srgbClr val="EBF0F6"/>
                </a:solidFill>
              </a:defRPr>
            </a:pPr>
            <a:r>
              <a:t>• Compute Euclidean distance to other candidates</a:t>
            </a:r>
          </a:p>
          <a:p>
            <a:pPr>
              <a:spcAft>
                <a:spcPts val="700"/>
              </a:spcAft>
              <a:defRPr sz="1250">
                <a:solidFill>
                  <a:srgbClr val="EBF0F6"/>
                </a:solidFill>
              </a:defRPr>
            </a:pPr>
            <a:r>
              <a:t>• Count neighbors within search radius</a:t>
            </a:r>
          </a:p>
          <a:p>
            <a:pPr>
              <a:spcAft>
                <a:spcPts val="700"/>
              </a:spcAft>
              <a:defRPr sz="1250">
                <a:solidFill>
                  <a:srgbClr val="EBF0F6"/>
                </a:solidFill>
              </a:defRPr>
            </a:pPr>
            <a:r>
              <a:t>• If neighbor count ≤ max_allowed → retain as isolated anomaly</a:t>
            </a:r>
          </a:p>
          <a:p>
            <a:pPr>
              <a:spcAft>
                <a:spcPts val="700"/>
              </a:spcAft>
              <a:defRPr sz="1250">
                <a:solidFill>
                  <a:srgbClr val="EBF0F6"/>
                </a:solidFill>
              </a:defRPr>
            </a:pPr>
            <a:r>
              <a:t>• Apply separately to interior and edge candidates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5120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BC46"/>
                </a:solidFill>
              </a:defRPr>
            </a:pPr>
            <a:r>
              <a:t>Purpose: suppress repeating reflection / texture hits.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56539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BA9B8"/>
                </a:solidFill>
              </a:defRPr>
            </a:pPr>
            <a:r>
              <a:t>Phone Back-Glass • Dent &amp; Scratch Inspection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565392"/>
            <a:ext cx="1554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BA9B8"/>
                </a:solidFill>
              </a:defRPr>
            </a:pPr>
            <a:r>
              <a:t>Computer Vision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52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BF0F6"/>
                </a:solidFill>
              </a:defRPr>
            </a:pPr>
            <a:r>
              <a:t>Traditional CV — Local Statistics + Temporal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9B8"/>
                </a:solidFill>
              </a:defRPr>
            </a:pPr>
            <a:r>
              <a:t>The latest detector directly targets the two observed sources of flicker: global threshold drift and single-frame noise.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BA9B8"/>
                </a:solidFill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303520" cy="3017520"/>
          </a:xfrm>
          <a:prstGeom prst="roundRect">
            <a:avLst/>
          </a:prstGeom>
          <a:solidFill>
            <a:srgbClr val="14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DD2E0"/>
                </a:solidFill>
              </a:defRPr>
            </a:pPr>
            <a:r>
              <a:t>LOCAL Z-SCORE STYLE THRESHOLD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BF0F6"/>
                </a:solidFill>
              </a:defRPr>
            </a:pPr>
            <a:r>
              <a:t>T(x,y) = μ_local(x,y) + k · σ_local(x,y)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BF0F6"/>
                </a:solidFill>
              </a:defRPr>
            </a:pPr>
            <a:r>
              <a:t>• μ and σ computed with cv2.boxFilter on |Laplacian|</a:t>
            </a:r>
          </a:p>
          <a:p>
            <a:pPr>
              <a:spcAft>
                <a:spcPts val="700"/>
              </a:spcAft>
              <a:defRPr sz="1150">
                <a:solidFill>
                  <a:srgbClr val="EBF0F6"/>
                </a:solidFill>
              </a:defRPr>
            </a:pPr>
            <a:r>
              <a:t>• Pixel must stand out from its own neighborhood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417320"/>
            <a:ext cx="5532120" cy="3017520"/>
          </a:xfrm>
          <a:prstGeom prst="roundRect">
            <a:avLst/>
          </a:prstGeom>
          <a:solidFill>
            <a:srgbClr val="14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916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5062"/>
                </a:solidFill>
              </a:defRPr>
            </a:pPr>
            <a:r>
              <a:t>WHY IT HELPS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574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BF0F6"/>
                </a:solidFill>
              </a:defRPr>
            </a:pPr>
            <a:r>
              <a:t>• Global threshold: sensitive to frame-wide drift</a:t>
            </a:r>
          </a:p>
          <a:p>
            <a:pPr>
              <a:spcAft>
                <a:spcPts val="700"/>
              </a:spcAft>
              <a:defRPr sz="1200">
                <a:solidFill>
                  <a:srgbClr val="EBF0F6"/>
                </a:solidFill>
              </a:defRPr>
            </a:pPr>
            <a:r>
              <a:t>• Local threshold: adapts to nearby texture / illumination</a:t>
            </a:r>
          </a:p>
          <a:p>
            <a:pPr>
              <a:spcAft>
                <a:spcPts val="700"/>
              </a:spcAft>
              <a:defRPr sz="1200">
                <a:solidFill>
                  <a:srgbClr val="EBF0F6"/>
                </a:solidFill>
              </a:defRPr>
            </a:pPr>
            <a:r>
              <a:t>• Rolling buffer: retains persistent hits</a:t>
            </a:r>
          </a:p>
          <a:p>
            <a:pPr>
              <a:spcAft>
                <a:spcPts val="700"/>
              </a:spcAft>
              <a:defRPr sz="1200">
                <a:solidFill>
                  <a:srgbClr val="EBF0F6"/>
                </a:solidFill>
              </a:defRPr>
            </a:pPr>
            <a:r>
              <a:t>• Example: 3-frame buffer, require ≥2 hits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709160"/>
            <a:ext cx="11109960" cy="1143000"/>
          </a:xfrm>
          <a:prstGeom prst="roundRect">
            <a:avLst/>
          </a:prstGeom>
          <a:solidFill>
            <a:srgbClr val="1B2633"/>
          </a:solidFill>
          <a:ln w="15240">
            <a:solidFill>
              <a:srgbClr val="F05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956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5062"/>
                </a:solidFill>
              </a:defRPr>
            </a:pPr>
            <a:r>
              <a:t>TEMPORAL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4864608"/>
            <a:ext cx="8641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BF0F6"/>
                </a:solidFill>
              </a:defRPr>
            </a:pPr>
            <a:r>
              <a:t>Rolling mask buffer → persistent candidate = stable defect; one-frame blip = rejected.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56539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BA9B8"/>
                </a:solidFill>
              </a:defRPr>
            </a:pPr>
            <a:r>
              <a:t>Phone Back-Glass • Dent &amp; Scratch Inspection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565392"/>
            <a:ext cx="1554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BA9B8"/>
                </a:solidFill>
              </a:defRPr>
            </a:pPr>
            <a:r>
              <a:t>Computer Vision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52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BF0F6"/>
                </a:solidFill>
              </a:defRPr>
            </a:pPr>
            <a:r>
              <a:t>Option 1 — Current Target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9B8"/>
                </a:solidFill>
              </a:defRPr>
            </a:pPr>
            <a:r>
              <a:t>The working direction combines the strongest elements developed across the supplied implementations.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BA9B8"/>
                </a:solidFill>
              </a:defRPr>
            </a:pPr>
            <a:r>
              <a:t>10</a:t>
            </a:r>
          </a:p>
        </p:txBody>
      </p:sp>
      <p:pic>
        <p:nvPicPr>
          <p:cNvPr id="6" name="Picture 5" descr="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15568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6235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BF0F6"/>
                </a:solidFill>
              </a:defRPr>
            </a:pPr>
            <a:r>
              <a:t>Controlled capture → CLAHE → ROI / border separation → Laplacian → local threshold → spatial outlier filter → temporal persistence → PASS / FAIL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6539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BA9B8"/>
                </a:solidFill>
              </a:defRPr>
            </a:pPr>
            <a:r>
              <a:t>Phone Back-Glass • Dent &amp; Scratch Inspection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65392"/>
            <a:ext cx="1554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BA9B8"/>
                </a:solidFill>
              </a:defRPr>
            </a:pPr>
            <a:r>
              <a:t>Computer Vision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52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BF0F6"/>
                </a:solidFill>
              </a:defRPr>
            </a:pPr>
            <a:r>
              <a:t>Traditional CV — Key Parameters to Tune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9B8"/>
                </a:solidFill>
              </a:defRPr>
            </a:pPr>
            <a:r>
              <a:t>Parameters map directly to physical defect size, optical noise and camera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BA9B8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11109960" cy="512064"/>
          </a:xfrm>
          <a:prstGeom prst="roundRect">
            <a:avLst/>
          </a:prstGeom>
          <a:solidFill>
            <a:srgbClr val="1B2633"/>
          </a:solidFill>
          <a:ln w="15240">
            <a:solidFill>
              <a:srgbClr val="52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441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2A0FF"/>
                </a:solidFill>
              </a:defRPr>
            </a:pPr>
            <a:r>
              <a:t>CLAHE grid / clip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344168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BF0F6"/>
                </a:solidFill>
              </a:defRPr>
            </a:pPr>
            <a:r>
              <a:t>Local contrast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34416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BA9B8"/>
                </a:solidFill>
              </a:defRPr>
            </a:pPr>
            <a:r>
              <a:t>Too local → texture amplification; too broad → micro-defect contrast lost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47088"/>
            <a:ext cx="11109960" cy="512064"/>
          </a:xfrm>
          <a:prstGeom prst="roundRect">
            <a:avLst/>
          </a:prstGeom>
          <a:solidFill>
            <a:srgbClr val="1B2633"/>
          </a:solidFill>
          <a:ln w="15240">
            <a:solidFill>
              <a:srgbClr val="4D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95681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DD2E0"/>
                </a:solidFill>
              </a:defRPr>
            </a:pPr>
            <a:r>
              <a:t>Laplacian ksize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956816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BF0F6"/>
                </a:solidFill>
              </a:defRPr>
            </a:pPr>
            <a:r>
              <a:t>Spatial derivative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956816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BA9B8"/>
                </a:solidFill>
              </a:defRPr>
            </a:pPr>
            <a:r>
              <a:t>1/3/5/7 trades micro-detail vs robustness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59736"/>
            <a:ext cx="11109960" cy="512064"/>
          </a:xfrm>
          <a:prstGeom prst="roundRect">
            <a:avLst/>
          </a:prstGeom>
          <a:solidFill>
            <a:srgbClr val="1B2633"/>
          </a:solidFill>
          <a:ln w="15240">
            <a:solidFill>
              <a:srgbClr val="F2B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56946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BC46"/>
                </a:solidFill>
              </a:defRPr>
            </a:pPr>
            <a:r>
              <a:t>k × 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569464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BF0F6"/>
                </a:solidFill>
              </a:defRPr>
            </a:pPr>
            <a:r>
              <a:t>Detection sensitivity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569464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BA9B8"/>
                </a:solidFill>
              </a:defRPr>
            </a:pPr>
            <a:r>
              <a:t>Higher k → fewer candidates; lower k → higher sensitivity + more noise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072384"/>
            <a:ext cx="11109960" cy="512064"/>
          </a:xfrm>
          <a:prstGeom prst="roundRect">
            <a:avLst/>
          </a:prstGeom>
          <a:solidFill>
            <a:srgbClr val="1B2633"/>
          </a:solidFill>
          <a:ln w="15240">
            <a:solidFill>
              <a:srgbClr val="52CA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1821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2CA8B"/>
                </a:solidFill>
              </a:defRPr>
            </a:pPr>
            <a:r>
              <a:t>ROI erosion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18211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BF0F6"/>
                </a:solidFill>
              </a:defRPr>
            </a:pPr>
            <a:r>
              <a:t>Border exclusion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318211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BA9B8"/>
                </a:solidFill>
              </a:defRPr>
            </a:pPr>
            <a:r>
              <a:t>Protects structural edges from being interpreted as defects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685032"/>
            <a:ext cx="11109960" cy="512064"/>
          </a:xfrm>
          <a:prstGeom prst="roundRect">
            <a:avLst/>
          </a:prstGeom>
          <a:solidFill>
            <a:srgbClr val="1B2633"/>
          </a:solidFill>
          <a:ln w="15240">
            <a:solidFill>
              <a:srgbClr val="F05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794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5062"/>
                </a:solidFill>
              </a:defRPr>
            </a:pPr>
            <a:r>
              <a:t>Neighborhood radius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379476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BF0F6"/>
                </a:solidFill>
              </a:defRPr>
            </a:pPr>
            <a:r>
              <a:t>Physical inspection area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37947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BA9B8"/>
                </a:solidFill>
              </a:defRPr>
            </a:pPr>
            <a:r>
              <a:t>Should map to calibrated pixel/mm scale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297680"/>
            <a:ext cx="11109960" cy="512064"/>
          </a:xfrm>
          <a:prstGeom prst="roundRect">
            <a:avLst/>
          </a:prstGeom>
          <a:solidFill>
            <a:srgbClr val="1B2633"/>
          </a:solidFill>
          <a:ln w="15240">
            <a:solidFill>
              <a:srgbClr val="52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4074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2A0FF"/>
                </a:solidFill>
              </a:defRPr>
            </a:pPr>
            <a:r>
              <a:t>Max neighbors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4407408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BF0F6"/>
                </a:solidFill>
              </a:defRPr>
            </a:pPr>
            <a:r>
              <a:t>Outlier criterion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440740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BA9B8"/>
                </a:solidFill>
              </a:defRPr>
            </a:pPr>
            <a:r>
              <a:t>Reject dense repetitive candidates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910328"/>
            <a:ext cx="11109960" cy="512064"/>
          </a:xfrm>
          <a:prstGeom prst="roundRect">
            <a:avLst/>
          </a:prstGeom>
          <a:solidFill>
            <a:srgbClr val="1B2633"/>
          </a:solidFill>
          <a:ln w="15240">
            <a:solidFill>
              <a:srgbClr val="4D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50200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DD2E0"/>
                </a:solidFill>
              </a:defRPr>
            </a:pPr>
            <a:r>
              <a:t>Window size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5020056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BF0F6"/>
                </a:solidFill>
              </a:defRPr>
            </a:pPr>
            <a:r>
              <a:t>Local statistics 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5020056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BA9B8"/>
                </a:solidFill>
              </a:defRPr>
            </a:pPr>
            <a:r>
              <a:t>Controls what 'local background' means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522976"/>
            <a:ext cx="11109960" cy="512064"/>
          </a:xfrm>
          <a:prstGeom prst="roundRect">
            <a:avLst/>
          </a:prstGeom>
          <a:solidFill>
            <a:srgbClr val="1B2633"/>
          </a:solidFill>
          <a:ln w="15240">
            <a:solidFill>
              <a:srgbClr val="52CA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6327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2CA8B"/>
                </a:solidFill>
              </a:defRPr>
            </a:pPr>
            <a:r>
              <a:t>Persistence frames / hits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5632704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BF0F6"/>
                </a:solidFill>
              </a:defRPr>
            </a:pPr>
            <a:r>
              <a:t>Temporal stability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5632704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BA9B8"/>
                </a:solidFill>
              </a:defRPr>
            </a:pPr>
            <a:r>
              <a:t>Suppresses transient sensor / illumination noise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656539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BA9B8"/>
                </a:solidFill>
              </a:defRPr>
            </a:pPr>
            <a:r>
              <a:t>Phone Back-Glass • Dent &amp; Scratch Inspection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565392"/>
            <a:ext cx="1554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BA9B8"/>
                </a:solidFill>
              </a:defRPr>
            </a:pPr>
            <a:r>
              <a:t>Computer Vision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52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BF0F6"/>
                </a:solidFill>
              </a:defRPr>
            </a:pPr>
            <a:r>
              <a:t>Option 2 — Deep Learning (Future Fallback)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9B8"/>
                </a:solidFill>
              </a:defRPr>
            </a:pPr>
            <a:r>
              <a:t>Use learned visual representations when rule-based features cannot achieve required robustness.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BA9B8"/>
                </a:solidFill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331720" cy="192024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52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2A0FF"/>
                </a:solidFill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7860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BF0F6"/>
                </a:solidFill>
              </a:defRPr>
            </a:pPr>
            <a:r>
              <a:t>Controlled images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53512" y="2743200"/>
            <a:ext cx="429767" cy="0"/>
          </a:xfrm>
          <a:prstGeom prst="line">
            <a:avLst/>
          </a:prstGeom>
          <a:ln w="31750">
            <a:solidFill>
              <a:srgbClr val="52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1828800"/>
            <a:ext cx="2331720" cy="192024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4D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103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DD2E0"/>
                </a:solidFill>
              </a:defRPr>
            </a:pPr>
            <a:r>
              <a:t>SEGMENTATION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57860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BF0F6"/>
                </a:solidFill>
              </a:defRPr>
            </a:pPr>
            <a:r>
              <a:t>Phone / glass ROI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33872" y="2743200"/>
            <a:ext cx="429768" cy="0"/>
          </a:xfrm>
          <a:prstGeom prst="line">
            <a:avLst/>
          </a:prstGeom>
          <a:ln w="31750">
            <a:solidFill>
              <a:srgbClr val="4D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55080" y="1828800"/>
            <a:ext cx="2331720" cy="192024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F05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103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5062"/>
                </a:solidFill>
              </a:defRPr>
            </a:pPr>
            <a:r>
              <a:t>DETECTOR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57860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BF0F6"/>
                </a:solidFill>
              </a:defRPr>
            </a:pPr>
            <a:r>
              <a:t>YOLO / instance detector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14232" y="2743200"/>
            <a:ext cx="429768" cy="0"/>
          </a:xfrm>
          <a:prstGeom prst="line">
            <a:avLst/>
          </a:prstGeom>
          <a:ln w="31750">
            <a:solidFill>
              <a:srgbClr val="F050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235440" y="1828800"/>
            <a:ext cx="2331720" cy="192024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52CA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19" y="2103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2CA8B"/>
                </a:solidFill>
              </a:defRPr>
            </a:pPr>
            <a:r>
              <a:t>CLASSIFY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257860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BF0F6"/>
                </a:solidFill>
              </a:defRPr>
            </a:pPr>
            <a:r>
              <a:t>Dent / Scratch / 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4340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EBF0F6"/>
                </a:solidFill>
              </a:defRPr>
            </a:pPr>
            <a:r>
              <a:t>• Training data: defect / non-defect images with bounding boxes or masks</a:t>
            </a:r>
          </a:p>
          <a:p>
            <a:pPr>
              <a:spcAft>
                <a:spcPts val="700"/>
              </a:spcAft>
              <a:defRPr sz="1250">
                <a:solidFill>
                  <a:srgbClr val="EBF0F6"/>
                </a:solidFill>
              </a:defRPr>
            </a:pPr>
            <a:r>
              <a:t>• Segmentation can isolate glass surface before detection</a:t>
            </a:r>
          </a:p>
          <a:p>
            <a:pPr>
              <a:spcAft>
                <a:spcPts val="700"/>
              </a:spcAft>
              <a:defRPr sz="1250">
                <a:solidFill>
                  <a:srgbClr val="EBF0F6"/>
                </a:solidFill>
              </a:defRPr>
            </a:pPr>
            <a:r>
              <a:t>• Augmentation should model realistic lighting, glare and small-defect variation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56539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BA9B8"/>
                </a:solidFill>
              </a:defRPr>
            </a:pPr>
            <a:r>
              <a:t>Phone Back-Glass • Dent &amp; Scratch Inspection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565392"/>
            <a:ext cx="1554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BA9B8"/>
                </a:solidFill>
              </a:defRPr>
            </a:pPr>
            <a:r>
              <a:t>Computer Vision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52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BF0F6"/>
                </a:solidFill>
              </a:defRPr>
            </a:pPr>
            <a:r>
              <a:t>Option 3 — Traditional CV + Deep Learning Hybrid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9B8"/>
                </a:solidFill>
              </a:defRPr>
            </a:pPr>
            <a:r>
              <a:t>Use classical vision to expose physically meaningful attributes, then let a model learn the final representation /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BA9B8"/>
                </a:solidFill>
              </a:defRPr>
            </a:pPr>
            <a:r>
              <a:t>13</a:t>
            </a:r>
          </a:p>
        </p:txBody>
      </p:sp>
      <p:pic>
        <p:nvPicPr>
          <p:cNvPr id="6" name="Picture 5" descr="fe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486400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63640" y="1234440"/>
            <a:ext cx="5349240" cy="384048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4D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554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DD2E0"/>
                </a:solidFill>
              </a:defRPr>
            </a:pPr>
            <a:r>
              <a:t>ENHANCED FEATURE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965960"/>
            <a:ext cx="46634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BF0F6"/>
                </a:solidFill>
              </a:defRPr>
            </a:pPr>
            <a:r>
              <a:t>• Original RGB / grayscale appearance</a:t>
            </a:r>
          </a:p>
          <a:p>
            <a:pPr>
              <a:spcAft>
                <a:spcPts val="700"/>
              </a:spcAft>
              <a:defRPr sz="1200">
                <a:solidFill>
                  <a:srgbClr val="EBF0F6"/>
                </a:solidFill>
              </a:defRPr>
            </a:pPr>
            <a:r>
              <a:t>• CLAHE-enhanced image</a:t>
            </a:r>
          </a:p>
          <a:p>
            <a:pPr>
              <a:spcAft>
                <a:spcPts val="700"/>
              </a:spcAft>
              <a:defRPr sz="1200">
                <a:solidFill>
                  <a:srgbClr val="EBF0F6"/>
                </a:solidFill>
              </a:defRPr>
            </a:pPr>
            <a:r>
              <a:t>• Laplacian / gradient response</a:t>
            </a:r>
          </a:p>
          <a:p>
            <a:pPr>
              <a:spcAft>
                <a:spcPts val="700"/>
              </a:spcAft>
              <a:defRPr sz="1200">
                <a:solidFill>
                  <a:srgbClr val="EBF0F6"/>
                </a:solidFill>
              </a:defRPr>
            </a:pPr>
            <a:r>
              <a:t>• Local mean, standard deviation / Z-score</a:t>
            </a:r>
          </a:p>
          <a:p>
            <a:pPr>
              <a:spcAft>
                <a:spcPts val="700"/>
              </a:spcAft>
              <a:defRPr sz="1200">
                <a:solidFill>
                  <a:srgbClr val="EBF0F6"/>
                </a:solidFill>
              </a:defRPr>
            </a:pPr>
            <a:r>
              <a:t>• ROI, edge distance and morphology-derived masks</a:t>
            </a:r>
          </a:p>
          <a:p>
            <a:pPr>
              <a:spcAft>
                <a:spcPts val="700"/>
              </a:spcAft>
              <a:defRPr sz="1200">
                <a:solidFill>
                  <a:srgbClr val="EBF0F6"/>
                </a:solidFill>
              </a:defRPr>
            </a:pPr>
            <a:r>
              <a:t>• Spatial density / persistence attributes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9496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BF0F6"/>
                </a:solidFill>
              </a:defRPr>
            </a:pPr>
            <a:r>
              <a:t>[raw image + engineered channels / attributes] → CNN / segmentation / detector → defect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56539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BA9B8"/>
                </a:solidFill>
              </a:defRPr>
            </a:pPr>
            <a:r>
              <a:t>Phone Back-Glass • Dent &amp; Scratch Inspection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565392"/>
            <a:ext cx="1554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BA9B8"/>
                </a:solidFill>
              </a:defRPr>
            </a:pPr>
            <a:r>
              <a:t>Computer Vision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52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BF0F6"/>
                </a:solidFill>
              </a:defRPr>
            </a:pPr>
            <a:r>
              <a:t>Approach Comparison — What Each Path Adds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9B8"/>
                </a:solidFill>
              </a:defRPr>
            </a:pPr>
            <a:r>
              <a:t>Use measurable inspection criteria to select the production direction.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BA9B8"/>
                </a:solidFill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474720" cy="438912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52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BF0F6"/>
                </a:solidFill>
              </a:defRPr>
            </a:pPr>
            <a:r>
              <a:t>Traditional CV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2880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EBF0F6"/>
                </a:solidFill>
              </a:defRPr>
            </a:pPr>
            <a:r>
              <a:t>• Interpretable rules</a:t>
            </a:r>
          </a:p>
          <a:p>
            <a:pPr>
              <a:spcAft>
                <a:spcPts val="700"/>
              </a:spcAft>
              <a:defRPr sz="1250">
                <a:solidFill>
                  <a:srgbClr val="EBF0F6"/>
                </a:solidFill>
              </a:defRPr>
            </a:pPr>
            <a:r>
              <a:t>• Fast to iterate</a:t>
            </a:r>
          </a:p>
          <a:p>
            <a:pPr>
              <a:spcAft>
                <a:spcPts val="700"/>
              </a:spcAft>
              <a:defRPr sz="1250">
                <a:solidFill>
                  <a:srgbClr val="EBF0F6"/>
                </a:solidFill>
              </a:defRPr>
            </a:pPr>
            <a:r>
              <a:t>• Low data requirement</a:t>
            </a:r>
          </a:p>
          <a:p>
            <a:pPr>
              <a:spcAft>
                <a:spcPts val="700"/>
              </a:spcAft>
              <a:defRPr sz="1250">
                <a:solidFill>
                  <a:srgbClr val="EBF0F6"/>
                </a:solidFill>
              </a:defRPr>
            </a:pPr>
            <a:r>
              <a:t>• Sensitive to imaging / thresholds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74720" cy="438912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F05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BF0F6"/>
                </a:solidFill>
              </a:defRPr>
            </a:pPr>
            <a:r>
              <a:t>Deep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23160"/>
            <a:ext cx="2880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EBF0F6"/>
                </a:solidFill>
              </a:defRPr>
            </a:pPr>
            <a:r>
              <a:t>• Learns complex appearance</a:t>
            </a:r>
          </a:p>
          <a:p>
            <a:pPr>
              <a:spcAft>
                <a:spcPts val="700"/>
              </a:spcAft>
              <a:defRPr sz="1250">
                <a:solidFill>
                  <a:srgbClr val="EBF0F6"/>
                </a:solidFill>
              </a:defRPr>
            </a:pPr>
            <a:r>
              <a:t>• Handles variation with enough data</a:t>
            </a:r>
          </a:p>
          <a:p>
            <a:pPr>
              <a:spcAft>
                <a:spcPts val="700"/>
              </a:spcAft>
              <a:defRPr sz="1250">
                <a:solidFill>
                  <a:srgbClr val="EBF0F6"/>
                </a:solidFill>
              </a:defRPr>
            </a:pPr>
            <a:r>
              <a:t>• Requires labeling + training</a:t>
            </a:r>
          </a:p>
          <a:p>
            <a:pPr>
              <a:spcAft>
                <a:spcPts val="700"/>
              </a:spcAft>
              <a:defRPr sz="1250">
                <a:solidFill>
                  <a:srgbClr val="EBF0F6"/>
                </a:solidFill>
              </a:defRPr>
            </a:pPr>
            <a:r>
              <a:t>• Needs validation for small defects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3474720" cy="438912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4D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BF0F6"/>
                </a:solidFill>
              </a:defRPr>
            </a:pPr>
            <a:r>
              <a:t>CV + Deep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423160"/>
            <a:ext cx="2880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EBF0F6"/>
                </a:solidFill>
              </a:defRPr>
            </a:pPr>
            <a:r>
              <a:t>• Retains engineered physical cues</a:t>
            </a:r>
          </a:p>
          <a:p>
            <a:pPr>
              <a:spcAft>
                <a:spcPts val="700"/>
              </a:spcAft>
              <a:defRPr sz="1250">
                <a:solidFill>
                  <a:srgbClr val="EBF0F6"/>
                </a:solidFill>
              </a:defRPr>
            </a:pPr>
            <a:r>
              <a:t>• Richer input representation</a:t>
            </a:r>
          </a:p>
          <a:p>
            <a:pPr>
              <a:spcAft>
                <a:spcPts val="700"/>
              </a:spcAft>
              <a:defRPr sz="1250">
                <a:solidFill>
                  <a:srgbClr val="EBF0F6"/>
                </a:solidFill>
              </a:defRPr>
            </a:pPr>
            <a:r>
              <a:t>• Potentially more robust</a:t>
            </a:r>
          </a:p>
          <a:p>
            <a:pPr>
              <a:spcAft>
                <a:spcPts val="700"/>
              </a:spcAft>
              <a:defRPr sz="1250">
                <a:solidFill>
                  <a:srgbClr val="EBF0F6"/>
                </a:solidFill>
              </a:defRPr>
            </a:pPr>
            <a:r>
              <a:t>• Higher system complexity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6539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BA9B8"/>
                </a:solidFill>
              </a:defRPr>
            </a:pPr>
            <a:r>
              <a:t>Phone Back-Glass • Dent &amp; Scratch Inspection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565392"/>
            <a:ext cx="1554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BA9B8"/>
                </a:solidFill>
              </a:defRPr>
            </a:pPr>
            <a:r>
              <a:t>Computer Vision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52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BF0F6"/>
                </a:solidFill>
              </a:defRPr>
            </a:pPr>
            <a:r>
              <a:t>Validation Plan — From Prototype to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9B8"/>
                </a:solidFill>
              </a:defRPr>
            </a:pPr>
            <a:r>
              <a:t>Evaluate the inspection system against the physical defect requirement, not only visual examples.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BA9B8"/>
                </a:solidFill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2057400" cy="333756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52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874519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2A0FF"/>
                </a:solidFill>
              </a:defRPr>
            </a:pPr>
            <a: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2860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BF0F6"/>
                </a:solidFill>
              </a:defRPr>
            </a:pPr>
            <a:r>
              <a:t>Build defect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971800"/>
            <a:ext cx="1737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BA9B8"/>
                </a:solidFill>
              </a:defRPr>
            </a:pPr>
            <a:r>
              <a:t>Known dents + scratches</a:t>
            </a:r>
            <a:br/>
            <a:r>
              <a:t>Different positions / sizes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96312" y="3200400"/>
            <a:ext cx="201168" cy="0"/>
          </a:xfrm>
          <a:prstGeom prst="line">
            <a:avLst/>
          </a:prstGeom>
          <a:ln w="31750">
            <a:solidFill>
              <a:srgbClr val="52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70632" y="1645920"/>
            <a:ext cx="2057400" cy="333756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4D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5224" y="1874519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DD2E0"/>
                </a:solidFill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5224" y="22860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BF0F6"/>
                </a:solidFill>
              </a:defRPr>
            </a:pPr>
            <a:r>
              <a:t>Optical repeatability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224" y="2971800"/>
            <a:ext cx="1737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BA9B8"/>
                </a:solidFill>
              </a:defRPr>
            </a:pPr>
            <a:r>
              <a:t>Multiple captures per part</a:t>
            </a:r>
            <a:br/>
            <a:r>
              <a:t>Lighting / exposure variation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55464" y="3200400"/>
            <a:ext cx="201168" cy="0"/>
          </a:xfrm>
          <a:prstGeom prst="line">
            <a:avLst/>
          </a:prstGeom>
          <a:ln w="31750">
            <a:solidFill>
              <a:srgbClr val="4D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29784" y="1645920"/>
            <a:ext cx="2057400" cy="333756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52CA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4376" y="1874519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2CA8B"/>
                </a:solidFill>
              </a:defRPr>
            </a:pPr>
            <a: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4376" y="22860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BF0F6"/>
                </a:solidFill>
              </a:defRPr>
            </a:pPr>
            <a:r>
              <a:t>CV 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2971800"/>
            <a:ext cx="1737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BA9B8"/>
                </a:solidFill>
              </a:defRPr>
            </a:pPr>
            <a:r>
              <a:t>Sensitivity vs false positives</a:t>
            </a:r>
            <a:br/>
            <a:r>
              <a:t>Pixel/mm calibration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14616" y="3200400"/>
            <a:ext cx="201167" cy="0"/>
          </a:xfrm>
          <a:prstGeom prst="line">
            <a:avLst/>
          </a:prstGeom>
          <a:ln w="31750">
            <a:solidFill>
              <a:srgbClr val="52C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88936" y="1645920"/>
            <a:ext cx="2057400" cy="333756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F05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53527" y="1874519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5062"/>
                </a:solidFill>
              </a:defRPr>
            </a:pPr>
            <a: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7" y="22860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BF0F6"/>
                </a:solidFill>
              </a:defRPr>
            </a:pPr>
            <a:r>
              <a:t>DL benchmark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3527" y="2971800"/>
            <a:ext cx="1737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BA9B8"/>
                </a:solidFill>
              </a:defRPr>
            </a:pPr>
            <a:r>
              <a:t>Train segmentation / detector</a:t>
            </a:r>
            <a:br/>
            <a:r>
              <a:t>Compare on held-out set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573767" y="3200400"/>
            <a:ext cx="201169" cy="0"/>
          </a:xfrm>
          <a:prstGeom prst="line">
            <a:avLst/>
          </a:prstGeom>
          <a:ln w="31750">
            <a:solidFill>
              <a:srgbClr val="F050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48088" y="1645920"/>
            <a:ext cx="2057400" cy="333756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F2B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12680" y="1874519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BC46"/>
                </a:solidFill>
              </a:defRPr>
            </a:pPr>
            <a: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22860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BF0F6"/>
                </a:solidFill>
              </a:defRPr>
            </a:pPr>
            <a:r>
              <a:t>Production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2971800"/>
            <a:ext cx="1737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BA9B8"/>
                </a:solidFill>
              </a:defRPr>
            </a:pPr>
            <a:r>
              <a:t>Cycle time • stability</a:t>
            </a:r>
            <a:br/>
            <a:r>
              <a:t>PASS/FAIL reliability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4406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EBF0F6"/>
                </a:solidFill>
              </a:defRPr>
            </a:pPr>
            <a:r>
              <a:t>KPIs → Detection rate • False-positive rate • Minimum detectable defect • Processing time • Frame stability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56539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BA9B8"/>
                </a:solidFill>
              </a:defRPr>
            </a:pPr>
            <a:r>
              <a:t>Phone Back-Glass • Dent &amp; Scratch Inspection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65392"/>
            <a:ext cx="1554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BA9B8"/>
                </a:solidFill>
              </a:defRPr>
            </a:pPr>
            <a:r>
              <a:t>Computer Vision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52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BF0F6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9B8"/>
                </a:solidFill>
              </a:defRPr>
            </a:pPr>
            <a:r>
              <a:t>Concrete work packages for the inspection development.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BA9B8"/>
                </a:solidFill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383280" cy="182880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52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2A0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BF0F6"/>
                </a:solidFill>
              </a:defRPr>
            </a:pPr>
            <a:r>
              <a:t>Optical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BA9B8"/>
                </a:solidFill>
              </a:defRPr>
            </a:pPr>
            <a:r>
              <a:t>Fix camera pose, focus, exposure and controlled RGB lighting recipes.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383280" cy="182880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4D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DD2E0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BF0F6"/>
                </a:solidFill>
              </a:defRPr>
            </a:pPr>
            <a:r>
              <a:t>Traditional CV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317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BA9B8"/>
                </a:solidFill>
              </a:defRPr>
            </a:pPr>
            <a:r>
              <a:t>Tune CLAHE, ROI, Laplacian, local threshold, spatial + temporal filters.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25880"/>
            <a:ext cx="3383280" cy="182880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52CA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50876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2CA8B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BF0F6"/>
                </a:solidFill>
              </a:defRPr>
            </a:pPr>
            <a:r>
              <a:t>Ground truth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317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BA9B8"/>
                </a:solidFill>
              </a:defRPr>
            </a:pPr>
            <a:r>
              <a:t>Create labeled defect library with size / location / defect type metadata.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66160"/>
            <a:ext cx="3383280" cy="182880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F05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4904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5062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605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BF0F6"/>
                </a:solidFill>
              </a:defRPr>
            </a:pPr>
            <a:r>
              <a:t>DL 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BA9B8"/>
                </a:solidFill>
              </a:defRPr>
            </a:pPr>
            <a:r>
              <a:t>Train segmentation + detector on the same controlled capture protocol.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566160"/>
            <a:ext cx="3383280" cy="182880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F2B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BC46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1605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BF0F6"/>
                </a:solidFill>
              </a:defRPr>
            </a:pPr>
            <a:r>
              <a:t>Hybrid experiment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5720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BA9B8"/>
                </a:solidFill>
              </a:defRPr>
            </a:pPr>
            <a:r>
              <a:t>Compare raw-image input vs CV-enriched multi-channel feature input.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566160"/>
            <a:ext cx="3383280" cy="1828800"/>
          </a:xfrm>
          <a:prstGeom prst="roundRect">
            <a:avLst/>
          </a:prstGeom>
          <a:solidFill>
            <a:srgbClr val="141D28"/>
          </a:solidFill>
          <a:ln w="15240">
            <a:solidFill>
              <a:srgbClr val="52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74904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2A0FF"/>
                </a:solidFill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1605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BF0F6"/>
                </a:solidFill>
              </a:defRPr>
            </a:pPr>
            <a:r>
              <a:t>Productionization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5720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BA9B8"/>
                </a:solidFill>
              </a:defRPr>
            </a:pPr>
            <a:r>
              <a:t>Integrate chosen detector into modular GUI and measure cycle-time / stability.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656539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BA9B8"/>
                </a:solidFill>
              </a:defRPr>
            </a:pPr>
            <a:r>
              <a:t>Phone Back-Glass • Dent &amp; Scratch Inspection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65392"/>
            <a:ext cx="1554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BA9B8"/>
                </a:solidFill>
              </a:defRPr>
            </a:pPr>
            <a:r>
              <a:t>Computer Vision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